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Inter Medium" charset="1" panose="02000503000000020004"/>
      <p:regular r:id="rId30"/>
    </p:embeddedFont>
    <p:embeddedFont>
      <p:font typeface="Ubuntu Bold" charset="1" panose="020B0804030602030204"/>
      <p:regular r:id="rId31"/>
    </p:embeddedFont>
    <p:embeddedFont>
      <p:font typeface="Inter" charset="1" panose="020B0502030000000004"/>
      <p:regular r:id="rId32"/>
    </p:embeddedFont>
    <p:embeddedFont>
      <p:font typeface="Ubuntu" charset="1" panose="020B050403060203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VAG6SAVyXds.mp4" Type="http://schemas.openxmlformats.org/officeDocument/2006/relationships/video"/><Relationship Id="rId4" Target="../media/VAG6SAVyXds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3.jpe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VAG6TiJjN60.mp4" Type="http://schemas.openxmlformats.org/officeDocument/2006/relationships/video"/><Relationship Id="rId4" Target="../media/VAG6TiJjN60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5.jpeg" Type="http://schemas.openxmlformats.org/officeDocument/2006/relationships/image"/><Relationship Id="rId5" Target="../media/VAG6dpXsOv0.mp4" Type="http://schemas.openxmlformats.org/officeDocument/2006/relationships/video"/><Relationship Id="rId6" Target="../media/VAG6dpXsOv0.mp4" Type="http://schemas.microsoft.com/office/2007/relationships/media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VAG6Tr69IUE.mp4" Type="http://schemas.openxmlformats.org/officeDocument/2006/relationships/video"/><Relationship Id="rId4" Target="../media/VAG6Tr69IUE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4660605" y="2617644"/>
            <a:ext cx="8966790" cy="50517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28700"/>
            <a:ext cx="18288000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257554" y="6294226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941407" y="6294226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3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3" y="4682582"/>
                </a:lnTo>
                <a:lnTo>
                  <a:pt x="49718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172992" y="8239277"/>
            <a:ext cx="394201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Ingeniería Informática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33389" y="6678137"/>
            <a:ext cx="11821222" cy="111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3"/>
              </a:lnSpc>
              <a:spcBef>
                <a:spcPct val="0"/>
              </a:spcBef>
            </a:pPr>
            <a:r>
              <a:rPr lang="en-US" b="true" sz="638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Pre</a:t>
            </a:r>
            <a:r>
              <a:rPr lang="en-US" b="true" sz="638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sentación Final Capstone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78311" y="8645480"/>
            <a:ext cx="773137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Escu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ela de Informática y Telecomunicaciones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64111" y="9051684"/>
            <a:ext cx="675982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ede Puente alto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64086" y="9455544"/>
            <a:ext cx="675982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2025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766105" y="2054975"/>
            <a:ext cx="13155841" cy="3758812"/>
          </a:xfrm>
          <a:custGeom>
            <a:avLst/>
            <a:gdLst/>
            <a:ahLst/>
            <a:cxnLst/>
            <a:rect r="r" b="b" t="t" l="l"/>
            <a:pathLst>
              <a:path h="3758812" w="13155841">
                <a:moveTo>
                  <a:pt x="0" y="0"/>
                </a:moveTo>
                <a:lnTo>
                  <a:pt x="13155840" y="0"/>
                </a:lnTo>
                <a:lnTo>
                  <a:pt x="13155840" y="3758812"/>
                </a:lnTo>
                <a:lnTo>
                  <a:pt x="0" y="3758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97848" y="5918942"/>
            <a:ext cx="10892304" cy="37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TEP – Si</a:t>
            </a:r>
            <a:r>
              <a:rPr lang="en-US" sz="2100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stema de Gestión de Envíos para E-commerce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02073" y="6917009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1976129" y="5996877"/>
            <a:ext cx="5283171" cy="2571615"/>
            <a:chOff x="0" y="0"/>
            <a:chExt cx="1391452" cy="677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1452" cy="677298"/>
            </a:xfrm>
            <a:custGeom>
              <a:avLst/>
              <a:gdLst/>
              <a:ahLst/>
              <a:cxnLst/>
              <a:rect r="r" b="b" t="t" l="l"/>
              <a:pathLst>
                <a:path h="677298" w="1391452">
                  <a:moveTo>
                    <a:pt x="58616" y="0"/>
                  </a:moveTo>
                  <a:lnTo>
                    <a:pt x="1332837" y="0"/>
                  </a:lnTo>
                  <a:cubicBezTo>
                    <a:pt x="1348383" y="0"/>
                    <a:pt x="1363292" y="6176"/>
                    <a:pt x="1374284" y="17168"/>
                  </a:cubicBezTo>
                  <a:cubicBezTo>
                    <a:pt x="1385277" y="28161"/>
                    <a:pt x="1391452" y="43070"/>
                    <a:pt x="1391452" y="58616"/>
                  </a:cubicBezTo>
                  <a:lnTo>
                    <a:pt x="1391452" y="618682"/>
                  </a:lnTo>
                  <a:cubicBezTo>
                    <a:pt x="1391452" y="651055"/>
                    <a:pt x="1365209" y="677298"/>
                    <a:pt x="1332837" y="677298"/>
                  </a:cubicBezTo>
                  <a:lnTo>
                    <a:pt x="58616" y="677298"/>
                  </a:lnTo>
                  <a:cubicBezTo>
                    <a:pt x="26243" y="677298"/>
                    <a:pt x="0" y="651055"/>
                    <a:pt x="0" y="618682"/>
                  </a:cubicBezTo>
                  <a:lnTo>
                    <a:pt x="0" y="58616"/>
                  </a:lnTo>
                  <a:cubicBezTo>
                    <a:pt x="0" y="26243"/>
                    <a:pt x="26243" y="0"/>
                    <a:pt x="58616" y="0"/>
                  </a:cubicBezTo>
                  <a:close/>
                </a:path>
              </a:pathLst>
            </a:custGeom>
            <a:solidFill>
              <a:srgbClr val="1C9BB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391452" cy="72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02415" y="5996877"/>
            <a:ext cx="5283171" cy="2571615"/>
            <a:chOff x="0" y="0"/>
            <a:chExt cx="1391452" cy="677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1452" cy="677298"/>
            </a:xfrm>
            <a:custGeom>
              <a:avLst/>
              <a:gdLst/>
              <a:ahLst/>
              <a:cxnLst/>
              <a:rect r="r" b="b" t="t" l="l"/>
              <a:pathLst>
                <a:path h="677298" w="1391452">
                  <a:moveTo>
                    <a:pt x="58616" y="0"/>
                  </a:moveTo>
                  <a:lnTo>
                    <a:pt x="1332837" y="0"/>
                  </a:lnTo>
                  <a:cubicBezTo>
                    <a:pt x="1348383" y="0"/>
                    <a:pt x="1363292" y="6176"/>
                    <a:pt x="1374284" y="17168"/>
                  </a:cubicBezTo>
                  <a:cubicBezTo>
                    <a:pt x="1385277" y="28161"/>
                    <a:pt x="1391452" y="43070"/>
                    <a:pt x="1391452" y="58616"/>
                  </a:cubicBezTo>
                  <a:lnTo>
                    <a:pt x="1391452" y="618682"/>
                  </a:lnTo>
                  <a:cubicBezTo>
                    <a:pt x="1391452" y="651055"/>
                    <a:pt x="1365209" y="677298"/>
                    <a:pt x="1332837" y="677298"/>
                  </a:cubicBezTo>
                  <a:lnTo>
                    <a:pt x="58616" y="677298"/>
                  </a:lnTo>
                  <a:cubicBezTo>
                    <a:pt x="26243" y="677298"/>
                    <a:pt x="0" y="651055"/>
                    <a:pt x="0" y="618682"/>
                  </a:cubicBezTo>
                  <a:lnTo>
                    <a:pt x="0" y="58616"/>
                  </a:lnTo>
                  <a:cubicBezTo>
                    <a:pt x="0" y="26243"/>
                    <a:pt x="26243" y="0"/>
                    <a:pt x="58616" y="0"/>
                  </a:cubicBezTo>
                  <a:close/>
                </a:path>
              </a:pathLst>
            </a:custGeom>
            <a:solidFill>
              <a:srgbClr val="1C9BB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91452" cy="72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996877"/>
            <a:ext cx="5283171" cy="2571615"/>
            <a:chOff x="0" y="0"/>
            <a:chExt cx="1391452" cy="6772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1452" cy="677298"/>
            </a:xfrm>
            <a:custGeom>
              <a:avLst/>
              <a:gdLst/>
              <a:ahLst/>
              <a:cxnLst/>
              <a:rect r="r" b="b" t="t" l="l"/>
              <a:pathLst>
                <a:path h="677298" w="1391452">
                  <a:moveTo>
                    <a:pt x="58616" y="0"/>
                  </a:moveTo>
                  <a:lnTo>
                    <a:pt x="1332837" y="0"/>
                  </a:lnTo>
                  <a:cubicBezTo>
                    <a:pt x="1348383" y="0"/>
                    <a:pt x="1363292" y="6176"/>
                    <a:pt x="1374284" y="17168"/>
                  </a:cubicBezTo>
                  <a:cubicBezTo>
                    <a:pt x="1385277" y="28161"/>
                    <a:pt x="1391452" y="43070"/>
                    <a:pt x="1391452" y="58616"/>
                  </a:cubicBezTo>
                  <a:lnTo>
                    <a:pt x="1391452" y="618682"/>
                  </a:lnTo>
                  <a:cubicBezTo>
                    <a:pt x="1391452" y="651055"/>
                    <a:pt x="1365209" y="677298"/>
                    <a:pt x="1332837" y="677298"/>
                  </a:cubicBezTo>
                  <a:lnTo>
                    <a:pt x="58616" y="677298"/>
                  </a:lnTo>
                  <a:cubicBezTo>
                    <a:pt x="26243" y="677298"/>
                    <a:pt x="0" y="651055"/>
                    <a:pt x="0" y="618682"/>
                  </a:cubicBezTo>
                  <a:lnTo>
                    <a:pt x="0" y="58616"/>
                  </a:lnTo>
                  <a:cubicBezTo>
                    <a:pt x="0" y="26243"/>
                    <a:pt x="26243" y="0"/>
                    <a:pt x="58616" y="0"/>
                  </a:cubicBezTo>
                  <a:close/>
                </a:path>
              </a:pathLst>
            </a:custGeom>
            <a:solidFill>
              <a:srgbClr val="1C9BB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91452" cy="724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808829" y="-2341291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561561" y="1760068"/>
            <a:ext cx="4014530" cy="3327633"/>
          </a:xfrm>
          <a:custGeom>
            <a:avLst/>
            <a:gdLst/>
            <a:ahLst/>
            <a:cxnLst/>
            <a:rect r="r" b="b" t="t" l="l"/>
            <a:pathLst>
              <a:path h="3327633" w="4014530">
                <a:moveTo>
                  <a:pt x="0" y="0"/>
                </a:moveTo>
                <a:lnTo>
                  <a:pt x="4014530" y="0"/>
                </a:lnTo>
                <a:lnTo>
                  <a:pt x="4014530" y="3327634"/>
                </a:lnTo>
                <a:lnTo>
                  <a:pt x="0" y="3327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77098" y="2893981"/>
            <a:ext cx="10947429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Integrantes del Proyecto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14132" y="6574866"/>
            <a:ext cx="4112307" cy="1415636"/>
            <a:chOff x="0" y="0"/>
            <a:chExt cx="5483076" cy="1887515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548307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Tiar</a:t>
              </a: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 Vanesa Morán Lepe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653075"/>
              <a:ext cx="5483076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Jef</a:t>
              </a: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 de Proyecto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Coordinación general del proyecto.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87847" y="6574866"/>
            <a:ext cx="4112307" cy="2044286"/>
            <a:chOff x="0" y="0"/>
            <a:chExt cx="5483076" cy="2725715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548307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Edis</a:t>
              </a: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on Aclicio Peralta Riveros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53075"/>
              <a:ext cx="5483076" cy="207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Anal</a:t>
              </a: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ista Programador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Desarrollo de funcionalidades del sistema.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561561" y="6574866"/>
            <a:ext cx="4112307" cy="1729961"/>
            <a:chOff x="0" y="0"/>
            <a:chExt cx="5483076" cy="2306615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47625"/>
              <a:ext cx="548307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Pedro</a:t>
              </a: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Alejandro Ureta Salvo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653075"/>
              <a:ext cx="5483076" cy="1653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</a:t>
              </a: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esarrollador BD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Diseño y mantenimiento del modelo de datos.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-7179463">
            <a:off x="-2485927" y="377969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76091" y="377969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150246"/>
            <a:ext cx="6748476" cy="4530465"/>
            <a:chOff x="0" y="0"/>
            <a:chExt cx="8997968" cy="604062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1237279"/>
              <a:ext cx="8997968" cy="4803341"/>
              <a:chOff x="0" y="0"/>
              <a:chExt cx="1777376" cy="94880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77376" cy="948808"/>
              </a:xfrm>
              <a:custGeom>
                <a:avLst/>
                <a:gdLst/>
                <a:ahLst/>
                <a:cxnLst/>
                <a:rect r="r" b="b" t="t" l="l"/>
                <a:pathLst>
                  <a:path h="948808" w="1777376">
                    <a:moveTo>
                      <a:pt x="45888" y="0"/>
                    </a:moveTo>
                    <a:lnTo>
                      <a:pt x="1731488" y="0"/>
                    </a:lnTo>
                    <a:cubicBezTo>
                      <a:pt x="1743658" y="0"/>
                      <a:pt x="1755330" y="4835"/>
                      <a:pt x="1763936" y="13440"/>
                    </a:cubicBezTo>
                    <a:cubicBezTo>
                      <a:pt x="1772542" y="22046"/>
                      <a:pt x="1777376" y="33718"/>
                      <a:pt x="1777376" y="45888"/>
                    </a:cubicBezTo>
                    <a:lnTo>
                      <a:pt x="1777376" y="902920"/>
                    </a:lnTo>
                    <a:cubicBezTo>
                      <a:pt x="1777376" y="928263"/>
                      <a:pt x="1756832" y="948808"/>
                      <a:pt x="1731488" y="948808"/>
                    </a:cubicBezTo>
                    <a:lnTo>
                      <a:pt x="45888" y="948808"/>
                    </a:lnTo>
                    <a:cubicBezTo>
                      <a:pt x="20545" y="948808"/>
                      <a:pt x="0" y="928263"/>
                      <a:pt x="0" y="902920"/>
                    </a:cubicBezTo>
                    <a:lnTo>
                      <a:pt x="0" y="45888"/>
                    </a:lnTo>
                    <a:cubicBezTo>
                      <a:pt x="0" y="20545"/>
                      <a:pt x="20545" y="0"/>
                      <a:pt x="45888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777376" cy="996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28064" y="1985229"/>
              <a:ext cx="8341840" cy="332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Actualment</a:t>
              </a: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 las tiendas gestionan los envíos de forma manual: reciben compras por canales aislados, generan etiquetas copiando datos entre plataformas y depende del encargado llevar físicamente los paquetes al transportista. No existe trazabilidad centralizada, lo que provoca errores, tiempos muertos y poca visibilidad del estado real del envío.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084127" y="-114300"/>
              <a:ext cx="4836384" cy="1060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80"/>
                </a:lnSpc>
                <a:spcBef>
                  <a:spcPct val="0"/>
                </a:spcBef>
              </a:pPr>
              <a:r>
                <a:rPr lang="en-US" b="true" sz="4700">
                  <a:solidFill>
                    <a:srgbClr val="000000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Problema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00018" y="4150246"/>
            <a:ext cx="6748476" cy="4530465"/>
            <a:chOff x="0" y="0"/>
            <a:chExt cx="8997968" cy="604062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237279"/>
              <a:ext cx="8997968" cy="4803341"/>
              <a:chOff x="0" y="0"/>
              <a:chExt cx="1777376" cy="94880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777376" cy="948808"/>
              </a:xfrm>
              <a:custGeom>
                <a:avLst/>
                <a:gdLst/>
                <a:ahLst/>
                <a:cxnLst/>
                <a:rect r="r" b="b" t="t" l="l"/>
                <a:pathLst>
                  <a:path h="948808" w="1777376">
                    <a:moveTo>
                      <a:pt x="45888" y="0"/>
                    </a:moveTo>
                    <a:lnTo>
                      <a:pt x="1731488" y="0"/>
                    </a:lnTo>
                    <a:cubicBezTo>
                      <a:pt x="1743658" y="0"/>
                      <a:pt x="1755330" y="4835"/>
                      <a:pt x="1763936" y="13440"/>
                    </a:cubicBezTo>
                    <a:cubicBezTo>
                      <a:pt x="1772542" y="22046"/>
                      <a:pt x="1777376" y="33718"/>
                      <a:pt x="1777376" y="45888"/>
                    </a:cubicBezTo>
                    <a:lnTo>
                      <a:pt x="1777376" y="902920"/>
                    </a:lnTo>
                    <a:cubicBezTo>
                      <a:pt x="1777376" y="928263"/>
                      <a:pt x="1756832" y="948808"/>
                      <a:pt x="1731488" y="948808"/>
                    </a:cubicBezTo>
                    <a:lnTo>
                      <a:pt x="45888" y="948808"/>
                    </a:lnTo>
                    <a:cubicBezTo>
                      <a:pt x="20545" y="948808"/>
                      <a:pt x="0" y="928263"/>
                      <a:pt x="0" y="902920"/>
                    </a:cubicBezTo>
                    <a:lnTo>
                      <a:pt x="0" y="45888"/>
                    </a:lnTo>
                    <a:cubicBezTo>
                      <a:pt x="0" y="20545"/>
                      <a:pt x="20545" y="0"/>
                      <a:pt x="45888" y="0"/>
                    </a:cubicBezTo>
                    <a:close/>
                  </a:path>
                </a:pathLst>
              </a:custGeom>
              <a:solidFill>
                <a:srgbClr val="1C9BB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777376" cy="996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816447" y="1967045"/>
              <a:ext cx="7365073" cy="3329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TEP es una plataforma que centraliza y automatiza el proceso de gestión de envíos en tiendas e-commerce.</a:t>
              </a:r>
            </a:p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Permite registrar ventas, generar etiquetas, coordinar envíos con transportistas, realizar seguimiento y visualizar el estado del pedido en tiempo real, reduciendo tiempos de gestión y errores manuales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532752" y="-114300"/>
              <a:ext cx="3932464" cy="1060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80"/>
                </a:lnSpc>
                <a:spcBef>
                  <a:spcPct val="0"/>
                </a:spcBef>
              </a:pPr>
              <a:r>
                <a:rPr lang="en-US" b="true" sz="4700">
                  <a:solidFill>
                    <a:srgbClr val="000000"/>
                  </a:solidFill>
                  <a:latin typeface="Ubuntu Bold"/>
                  <a:ea typeface="Ubuntu Bold"/>
                  <a:cs typeface="Ubuntu Bold"/>
                  <a:sym typeface="Ubuntu Bold"/>
                </a:rPr>
                <a:t>Solución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8115199" y="5681335"/>
            <a:ext cx="2046796" cy="2046796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462036" y="1439714"/>
            <a:ext cx="10889454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Desc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ripción del Proyecto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90164" y="27561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4623004" y="6678508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3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3" y="4682582"/>
                </a:lnTo>
                <a:lnTo>
                  <a:pt x="49718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4098716"/>
            <a:ext cx="5674114" cy="5159584"/>
            <a:chOff x="0" y="0"/>
            <a:chExt cx="764944" cy="6955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944" cy="695578"/>
            </a:xfrm>
            <a:custGeom>
              <a:avLst/>
              <a:gdLst/>
              <a:ahLst/>
              <a:cxnLst/>
              <a:rect r="r" b="b" t="t" l="l"/>
              <a:pathLst>
                <a:path h="695578" w="764944">
                  <a:moveTo>
                    <a:pt x="54577" y="0"/>
                  </a:moveTo>
                  <a:lnTo>
                    <a:pt x="710366" y="0"/>
                  </a:lnTo>
                  <a:cubicBezTo>
                    <a:pt x="740509" y="0"/>
                    <a:pt x="764944" y="24435"/>
                    <a:pt x="764944" y="54577"/>
                  </a:cubicBezTo>
                  <a:lnTo>
                    <a:pt x="764944" y="641001"/>
                  </a:lnTo>
                  <a:cubicBezTo>
                    <a:pt x="764944" y="671143"/>
                    <a:pt x="740509" y="695578"/>
                    <a:pt x="710366" y="695578"/>
                  </a:cubicBezTo>
                  <a:lnTo>
                    <a:pt x="54577" y="695578"/>
                  </a:lnTo>
                  <a:cubicBezTo>
                    <a:pt x="24435" y="695578"/>
                    <a:pt x="0" y="671143"/>
                    <a:pt x="0" y="641001"/>
                  </a:cubicBezTo>
                  <a:lnTo>
                    <a:pt x="0" y="54577"/>
                  </a:lnTo>
                  <a:cubicBezTo>
                    <a:pt x="0" y="24435"/>
                    <a:pt x="24435" y="0"/>
                    <a:pt x="5457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986" r="0" b="-498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01109" y="1748569"/>
            <a:ext cx="5435740" cy="2894024"/>
            <a:chOff x="0" y="0"/>
            <a:chExt cx="1431635" cy="7622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31635" cy="762212"/>
            </a:xfrm>
            <a:custGeom>
              <a:avLst/>
              <a:gdLst/>
              <a:ahLst/>
              <a:cxnLst/>
              <a:rect r="r" b="b" t="t" l="l"/>
              <a:pathLst>
                <a:path h="762212" w="1431635">
                  <a:moveTo>
                    <a:pt x="56970" y="0"/>
                  </a:moveTo>
                  <a:lnTo>
                    <a:pt x="1374665" y="0"/>
                  </a:lnTo>
                  <a:cubicBezTo>
                    <a:pt x="1389774" y="0"/>
                    <a:pt x="1404265" y="6002"/>
                    <a:pt x="1414949" y="16686"/>
                  </a:cubicBezTo>
                  <a:cubicBezTo>
                    <a:pt x="1425633" y="27370"/>
                    <a:pt x="1431635" y="41861"/>
                    <a:pt x="1431635" y="56970"/>
                  </a:cubicBezTo>
                  <a:lnTo>
                    <a:pt x="1431635" y="705242"/>
                  </a:lnTo>
                  <a:cubicBezTo>
                    <a:pt x="1431635" y="720351"/>
                    <a:pt x="1425633" y="734842"/>
                    <a:pt x="1414949" y="745526"/>
                  </a:cubicBezTo>
                  <a:cubicBezTo>
                    <a:pt x="1404265" y="756210"/>
                    <a:pt x="1389774" y="762212"/>
                    <a:pt x="1374665" y="762212"/>
                  </a:cubicBezTo>
                  <a:lnTo>
                    <a:pt x="56970" y="762212"/>
                  </a:lnTo>
                  <a:cubicBezTo>
                    <a:pt x="41861" y="762212"/>
                    <a:pt x="27370" y="756210"/>
                    <a:pt x="16686" y="745526"/>
                  </a:cubicBezTo>
                  <a:cubicBezTo>
                    <a:pt x="6002" y="734842"/>
                    <a:pt x="0" y="720351"/>
                    <a:pt x="0" y="705242"/>
                  </a:cubicBezTo>
                  <a:lnTo>
                    <a:pt x="0" y="56970"/>
                  </a:lnTo>
                  <a:cubicBezTo>
                    <a:pt x="0" y="41861"/>
                    <a:pt x="6002" y="27370"/>
                    <a:pt x="16686" y="16686"/>
                  </a:cubicBezTo>
                  <a:cubicBezTo>
                    <a:pt x="27370" y="6002"/>
                    <a:pt x="41861" y="0"/>
                    <a:pt x="56970" y="0"/>
                  </a:cubicBezTo>
                  <a:close/>
                </a:path>
              </a:pathLst>
            </a:custGeom>
            <a:solidFill>
              <a:srgbClr val="1C9BB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431635" cy="809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7805" y="2178352"/>
            <a:ext cx="5484960" cy="148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2"/>
              </a:lnSpc>
              <a:spcBef>
                <a:spcPct val="0"/>
              </a:spcBef>
            </a:pPr>
            <a:r>
              <a:rPr lang="en-US" b="true" sz="853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Objetivos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755263" y="2173438"/>
            <a:ext cx="4927433" cy="2044286"/>
            <a:chOff x="0" y="0"/>
            <a:chExt cx="6569911" cy="272571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688388" y="-47625"/>
              <a:ext cx="512429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Objetivo</a:t>
              </a: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General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53075"/>
              <a:ext cx="6569911" cy="207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Desarrollar un sistema integral que automatice</a:t>
              </a:r>
              <a:r>
                <a:rPr lang="en-US" sz="18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y centralice la gestión de envíos para tiendas de e-commerce, mejorando la eficiencia operativa y la trazabilidad del proceso logístico.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6124575"/>
            <a:ext cx="6904151" cy="3619873"/>
            <a:chOff x="0" y="0"/>
            <a:chExt cx="1818377" cy="9533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8377" cy="953382"/>
            </a:xfrm>
            <a:custGeom>
              <a:avLst/>
              <a:gdLst/>
              <a:ahLst/>
              <a:cxnLst/>
              <a:rect r="r" b="b" t="t" l="l"/>
              <a:pathLst>
                <a:path h="953382" w="1818377">
                  <a:moveTo>
                    <a:pt x="44854" y="0"/>
                  </a:moveTo>
                  <a:lnTo>
                    <a:pt x="1773524" y="0"/>
                  </a:lnTo>
                  <a:cubicBezTo>
                    <a:pt x="1785420" y="0"/>
                    <a:pt x="1796828" y="4726"/>
                    <a:pt x="1805240" y="13137"/>
                  </a:cubicBezTo>
                  <a:cubicBezTo>
                    <a:pt x="1813652" y="21549"/>
                    <a:pt x="1818377" y="32958"/>
                    <a:pt x="1818377" y="44854"/>
                  </a:cubicBezTo>
                  <a:lnTo>
                    <a:pt x="1818377" y="908528"/>
                  </a:lnTo>
                  <a:cubicBezTo>
                    <a:pt x="1818377" y="920424"/>
                    <a:pt x="1813652" y="931833"/>
                    <a:pt x="1805240" y="940245"/>
                  </a:cubicBezTo>
                  <a:cubicBezTo>
                    <a:pt x="1796828" y="948656"/>
                    <a:pt x="1785420" y="953382"/>
                    <a:pt x="1773524" y="953382"/>
                  </a:cubicBezTo>
                  <a:lnTo>
                    <a:pt x="44854" y="953382"/>
                  </a:lnTo>
                  <a:cubicBezTo>
                    <a:pt x="20082" y="953382"/>
                    <a:pt x="0" y="933300"/>
                    <a:pt x="0" y="908528"/>
                  </a:cubicBezTo>
                  <a:lnTo>
                    <a:pt x="0" y="44854"/>
                  </a:lnTo>
                  <a:cubicBezTo>
                    <a:pt x="0" y="32958"/>
                    <a:pt x="4726" y="21549"/>
                    <a:pt x="13137" y="13137"/>
                  </a:cubicBezTo>
                  <a:cubicBezTo>
                    <a:pt x="21549" y="4726"/>
                    <a:pt x="32958" y="0"/>
                    <a:pt x="44854" y="0"/>
                  </a:cubicBezTo>
                  <a:close/>
                </a:path>
              </a:pathLst>
            </a:custGeom>
            <a:solidFill>
              <a:srgbClr val="1C9BB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18377" cy="10010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56049" y="6620082"/>
            <a:ext cx="6453294" cy="2628860"/>
            <a:chOff x="0" y="0"/>
            <a:chExt cx="8604392" cy="350514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47625"/>
              <a:ext cx="634544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               Objetivos</a:t>
              </a:r>
              <a:r>
                <a:rPr lang="en-US" b="true" sz="2099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Específicos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629743"/>
              <a:ext cx="8604392" cy="2875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388620" indent="-194310" lvl="1">
                <a:lnSpc>
                  <a:spcPts val="2519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Reducir los tiempos operativos del proceso logístico</a:t>
              </a:r>
            </a:p>
            <a:p>
              <a:pPr algn="ctr" marL="388620" indent="-194310" lvl="1">
                <a:lnSpc>
                  <a:spcPts val="2519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Integrar datos entre tienda y transportista</a:t>
              </a:r>
            </a:p>
            <a:p>
              <a:pPr algn="ctr" marL="388620" indent="-194310" lvl="1">
                <a:lnSpc>
                  <a:spcPts val="2519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Automatizar la generación de etiquetas</a:t>
              </a:r>
            </a:p>
            <a:p>
              <a:pPr algn="ctr" marL="388620" indent="-194310" lvl="1">
                <a:lnSpc>
                  <a:spcPts val="2519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Permitir seguimiento del envío</a:t>
              </a:r>
            </a:p>
            <a:p>
              <a:pPr algn="ctr" marL="388620" indent="-194310" lvl="1">
                <a:lnSpc>
                  <a:spcPts val="2519"/>
                </a:lnSpc>
                <a:buFont typeface="Arial"/>
                <a:buChar char="•"/>
              </a:pPr>
              <a:r>
                <a:rPr lang="en-US" sz="17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Disminuir errores por digitación manual</a:t>
              </a:r>
            </a:p>
            <a:p>
              <a:pPr algn="ctr">
                <a:lnSpc>
                  <a:spcPts val="2519"/>
                </a:lnSpc>
                <a:spcBef>
                  <a:spcPct val="0"/>
                </a:spcBef>
              </a:pPr>
            </a:p>
            <a:p>
              <a:pPr algn="ctr">
                <a:lnSpc>
                  <a:spcPts val="22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3092998" y="-2313730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7449800" y="-2699534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84249" y="6011488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3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3" y="4682582"/>
                </a:lnTo>
                <a:lnTo>
                  <a:pt x="497185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56563" y="4418863"/>
            <a:ext cx="8643579" cy="2469594"/>
          </a:xfrm>
          <a:custGeom>
            <a:avLst/>
            <a:gdLst/>
            <a:ahLst/>
            <a:cxnLst/>
            <a:rect r="r" b="b" t="t" l="l"/>
            <a:pathLst>
              <a:path h="2469594" w="8643579">
                <a:moveTo>
                  <a:pt x="0" y="0"/>
                </a:moveTo>
                <a:lnTo>
                  <a:pt x="8643580" y="0"/>
                </a:lnTo>
                <a:lnTo>
                  <a:pt x="8643580" y="2469594"/>
                </a:lnTo>
                <a:lnTo>
                  <a:pt x="0" y="24695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73648"/>
            <a:ext cx="7571207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Alcances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940887" y="7219881"/>
            <a:ext cx="6560131" cy="2114137"/>
            <a:chOff x="0" y="0"/>
            <a:chExt cx="8746842" cy="281884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8746842" cy="600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Otros Alcances </a:t>
              </a:r>
              <a:r>
                <a:rPr lang="en-US" b="true" sz="26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 restricciones: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72455"/>
              <a:ext cx="8746842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La trazabilidad depende</a:t>
              </a: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APIs externas.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No contempla pagos en línea (solo gestión logística).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99169" y="5143500"/>
            <a:ext cx="6560131" cy="1723612"/>
            <a:chOff x="0" y="0"/>
            <a:chExt cx="8746842" cy="229814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8746842" cy="600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Qué n</a:t>
              </a:r>
              <a:r>
                <a:rPr lang="en-US" b="true" sz="26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 hace: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72455"/>
              <a:ext cx="8746842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</a:t>
              </a: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 gestiona inventario.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No genera boletas ni facturas.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No realiza cálculo de tarifas de envíos.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9169" y="1983048"/>
            <a:ext cx="6560131" cy="3285712"/>
            <a:chOff x="0" y="0"/>
            <a:chExt cx="8746842" cy="438094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57150"/>
              <a:ext cx="8746842" cy="600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Que hace</a:t>
              </a:r>
              <a:r>
                <a:rPr lang="en-US" b="true" sz="2699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el Sistema: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72455"/>
              <a:ext cx="8746842" cy="3608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Recibe venta</a:t>
              </a: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 desde sistemas externos mediante webhook.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Gestiona etiquetas del transporte.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Permite asignación de transporte.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Visualiza el tracking de envíos.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Administra clientes, tiendas,ventas,etc.</a:t>
              </a:r>
            </a:p>
            <a:p>
              <a:pPr algn="r">
                <a:lnSpc>
                  <a:spcPts val="30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73373" y="5925154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87697"/>
            <a:ext cx="9551485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Li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sta de Requerimientos Funcionales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4034962"/>
            <a:ext cx="8115300" cy="5555836"/>
            <a:chOff x="0" y="0"/>
            <a:chExt cx="10820400" cy="740778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1082040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75088"/>
              <a:ext cx="10820400" cy="6732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RF01 – Recepció</a:t>
              </a: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 de Ventas vía Webhook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RF02 – Validación y registro de pedidos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RF03 – Edición de pedidos antes de la inyección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RF04 – Inyección del pedido al transportista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RF05 – Generación de etiquetas en PDF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RF06 – Impresión y reimpresión de etiquetas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RF07 – Registro de eventos de tracking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RF08 – Consulta del estado del envío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RF09 – Notificaciones por correo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RF10 – Gestión de usuarios y roles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RF11 – Configuración de integraciones (couriers y endpoints)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RF12 – Reportería y exportación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341231" y="2060333"/>
            <a:ext cx="5301167" cy="5434866"/>
          </a:xfrm>
          <a:custGeom>
            <a:avLst/>
            <a:gdLst/>
            <a:ahLst/>
            <a:cxnLst/>
            <a:rect r="r" b="b" t="t" l="l"/>
            <a:pathLst>
              <a:path h="5434866" w="5301167">
                <a:moveTo>
                  <a:pt x="0" y="0"/>
                </a:moveTo>
                <a:lnTo>
                  <a:pt x="5301167" y="0"/>
                </a:lnTo>
                <a:lnTo>
                  <a:pt x="5301167" y="5434866"/>
                </a:lnTo>
                <a:lnTo>
                  <a:pt x="0" y="543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297400" y="-115352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1"/>
                </a:lnTo>
                <a:lnTo>
                  <a:pt x="0" y="4682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3729398" y="1187768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3" y="0"/>
                </a:moveTo>
                <a:lnTo>
                  <a:pt x="0" y="0"/>
                </a:lnTo>
                <a:lnTo>
                  <a:pt x="0" y="4682581"/>
                </a:lnTo>
                <a:lnTo>
                  <a:pt x="4971853" y="4682581"/>
                </a:lnTo>
                <a:lnTo>
                  <a:pt x="49718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57554" y="6294226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42455" y="1917458"/>
            <a:ext cx="9551485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Li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sta de Requerimientos No Funcionales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42455" y="4434391"/>
            <a:ext cx="8288542" cy="3993736"/>
            <a:chOff x="0" y="0"/>
            <a:chExt cx="11051390" cy="532498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1102599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5400" y="675088"/>
              <a:ext cx="11025990" cy="4649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RNF01 – Seguridad</a:t>
              </a: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de acceso (HTTPS, tokens, roles)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RNF02 – Disponibilidad 24/7 para el webhook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RNF03 – Tiempo de respuesta menor a 3 segundos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RNF04 – Manejo seguro de credenciales de transportistas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RNF05 – Escalabilidad para múltiples ventas por minuto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RNF06 – Logging y auditoría de eventos críticos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RNF07 – Mantenibilidad (arquitectura en capas)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RNF08 – Compatibilidad con APIs REST JSON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341231" y="2060333"/>
            <a:ext cx="5301167" cy="5434866"/>
          </a:xfrm>
          <a:custGeom>
            <a:avLst/>
            <a:gdLst/>
            <a:ahLst/>
            <a:cxnLst/>
            <a:rect r="r" b="b" t="t" l="l"/>
            <a:pathLst>
              <a:path h="5434866" w="5301167">
                <a:moveTo>
                  <a:pt x="0" y="0"/>
                </a:moveTo>
                <a:lnTo>
                  <a:pt x="5301167" y="0"/>
                </a:lnTo>
                <a:lnTo>
                  <a:pt x="5301167" y="5434866"/>
                </a:lnTo>
                <a:lnTo>
                  <a:pt x="0" y="543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387615" y="1900466"/>
            <a:ext cx="11512770" cy="64860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485927" y="5143500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54141" y="5769754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38044" y="1028700"/>
            <a:ext cx="11638048" cy="8566245"/>
          </a:xfrm>
          <a:custGeom>
            <a:avLst/>
            <a:gdLst/>
            <a:ahLst/>
            <a:cxnLst/>
            <a:rect r="r" b="b" t="t" l="l"/>
            <a:pathLst>
              <a:path h="8566245" w="11638048">
                <a:moveTo>
                  <a:pt x="0" y="0"/>
                </a:moveTo>
                <a:lnTo>
                  <a:pt x="11638047" y="0"/>
                </a:lnTo>
                <a:lnTo>
                  <a:pt x="11638047" y="8566245"/>
                </a:lnTo>
                <a:lnTo>
                  <a:pt x="0" y="8566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19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409" y="1510010"/>
            <a:ext cx="4746212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iseño del </a:t>
            </a:r>
          </a:p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9129" y="4099746"/>
            <a:ext cx="3877392" cy="669290"/>
            <a:chOff x="0" y="0"/>
            <a:chExt cx="5169856" cy="8923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13220" y="408093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Proceso anterior : AS IS 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28852" y="-2628900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51882" y="6917009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7808" y="1652885"/>
            <a:ext cx="12314463" cy="7205365"/>
          </a:xfrm>
          <a:custGeom>
            <a:avLst/>
            <a:gdLst/>
            <a:ahLst/>
            <a:cxnLst/>
            <a:rect r="r" b="b" t="t" l="l"/>
            <a:pathLst>
              <a:path h="7205365" w="12314463">
                <a:moveTo>
                  <a:pt x="0" y="0"/>
                </a:moveTo>
                <a:lnTo>
                  <a:pt x="12314464" y="0"/>
                </a:lnTo>
                <a:lnTo>
                  <a:pt x="12314464" y="7205365"/>
                </a:lnTo>
                <a:lnTo>
                  <a:pt x="0" y="7205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429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409" y="1510010"/>
            <a:ext cx="4746212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iseño del </a:t>
            </a:r>
          </a:p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9129" y="4099746"/>
            <a:ext cx="3877392" cy="669290"/>
            <a:chOff x="0" y="0"/>
            <a:chExt cx="5169856" cy="8923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13220" y="408093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Proceso 1 : Tobe Escritorio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972773" y="-3029697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52557" y="7945709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37808" y="1652885"/>
            <a:ext cx="12861005" cy="6852512"/>
          </a:xfrm>
          <a:custGeom>
            <a:avLst/>
            <a:gdLst/>
            <a:ahLst/>
            <a:cxnLst/>
            <a:rect r="r" b="b" t="t" l="l"/>
            <a:pathLst>
              <a:path h="6852512" w="12861005">
                <a:moveTo>
                  <a:pt x="0" y="0"/>
                </a:moveTo>
                <a:lnTo>
                  <a:pt x="12861005" y="0"/>
                </a:lnTo>
                <a:lnTo>
                  <a:pt x="12861005" y="6852512"/>
                </a:lnTo>
                <a:lnTo>
                  <a:pt x="0" y="68525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800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409" y="1510010"/>
            <a:ext cx="4746212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iseño del </a:t>
            </a:r>
          </a:p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9129" y="4099746"/>
            <a:ext cx="3877392" cy="669290"/>
            <a:chOff x="0" y="0"/>
            <a:chExt cx="5169856" cy="8923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13220" y="408093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Proceso 2 : To be Web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485927" y="5143500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54141" y="5769754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03521" y="593884"/>
            <a:ext cx="11233620" cy="9099232"/>
          </a:xfrm>
          <a:custGeom>
            <a:avLst/>
            <a:gdLst/>
            <a:ahLst/>
            <a:cxnLst/>
            <a:rect r="r" b="b" t="t" l="l"/>
            <a:pathLst>
              <a:path h="9099232" w="11233620">
                <a:moveTo>
                  <a:pt x="0" y="0"/>
                </a:moveTo>
                <a:lnTo>
                  <a:pt x="11233620" y="0"/>
                </a:lnTo>
                <a:lnTo>
                  <a:pt x="11233620" y="9099232"/>
                </a:lnTo>
                <a:lnTo>
                  <a:pt x="0" y="90992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409" y="1510010"/>
            <a:ext cx="4746212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iseño del </a:t>
            </a:r>
          </a:p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9129" y="4099746"/>
            <a:ext cx="3877392" cy="669290"/>
            <a:chOff x="0" y="0"/>
            <a:chExt cx="5169856" cy="8923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13220" y="408093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Base de datos relacional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485927" y="6917009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83929" y="0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01056" y="511216"/>
            <a:ext cx="8728301" cy="9538890"/>
          </a:xfrm>
          <a:custGeom>
            <a:avLst/>
            <a:gdLst/>
            <a:ahLst/>
            <a:cxnLst/>
            <a:rect r="r" b="b" t="t" l="l"/>
            <a:pathLst>
              <a:path h="9538890" w="8728301">
                <a:moveTo>
                  <a:pt x="0" y="0"/>
                </a:moveTo>
                <a:lnTo>
                  <a:pt x="8728301" y="0"/>
                </a:lnTo>
                <a:lnTo>
                  <a:pt x="8728301" y="9538889"/>
                </a:lnTo>
                <a:lnTo>
                  <a:pt x="0" y="9538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409" y="1510010"/>
            <a:ext cx="4746212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iseño del </a:t>
            </a:r>
          </a:p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9129" y="4099746"/>
            <a:ext cx="3877392" cy="669290"/>
            <a:chOff x="0" y="0"/>
            <a:chExt cx="5169856" cy="89238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313220" y="408093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38100"/>
              <a:ext cx="485663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Diagrama de Caso Uso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2485927" y="3757275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54141" y="5769754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04828" y="310938"/>
            <a:ext cx="9633174" cy="9665125"/>
          </a:xfrm>
          <a:custGeom>
            <a:avLst/>
            <a:gdLst/>
            <a:ahLst/>
            <a:cxnLst/>
            <a:rect r="r" b="b" t="t" l="l"/>
            <a:pathLst>
              <a:path h="9665125" w="9633174">
                <a:moveTo>
                  <a:pt x="0" y="0"/>
                </a:moveTo>
                <a:lnTo>
                  <a:pt x="9633174" y="0"/>
                </a:lnTo>
                <a:lnTo>
                  <a:pt x="9633174" y="9665124"/>
                </a:lnTo>
                <a:lnTo>
                  <a:pt x="0" y="96651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48459" y="822007"/>
            <a:ext cx="101084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409" y="1510010"/>
            <a:ext cx="9201057" cy="224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Arqu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itectura </a:t>
            </a:r>
          </a:p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del Sistema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704901" y="1467785"/>
            <a:ext cx="11007953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T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ecnologías del Desarrollo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406955" y="6026957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14530" y="3143550"/>
            <a:ext cx="10726643" cy="5200798"/>
            <a:chOff x="0" y="0"/>
            <a:chExt cx="2825124" cy="13697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25124" cy="1369758"/>
            </a:xfrm>
            <a:custGeom>
              <a:avLst/>
              <a:gdLst/>
              <a:ahLst/>
              <a:cxnLst/>
              <a:rect r="r" b="b" t="t" l="l"/>
              <a:pathLst>
                <a:path h="1369758" w="2825124">
                  <a:moveTo>
                    <a:pt x="28870" y="0"/>
                  </a:moveTo>
                  <a:lnTo>
                    <a:pt x="2796254" y="0"/>
                  </a:lnTo>
                  <a:cubicBezTo>
                    <a:pt x="2803911" y="0"/>
                    <a:pt x="2811254" y="3042"/>
                    <a:pt x="2816668" y="8456"/>
                  </a:cubicBezTo>
                  <a:cubicBezTo>
                    <a:pt x="2822082" y="13870"/>
                    <a:pt x="2825124" y="21213"/>
                    <a:pt x="2825124" y="28870"/>
                  </a:cubicBezTo>
                  <a:lnTo>
                    <a:pt x="2825124" y="1340888"/>
                  </a:lnTo>
                  <a:cubicBezTo>
                    <a:pt x="2825124" y="1348544"/>
                    <a:pt x="2822082" y="1355888"/>
                    <a:pt x="2816668" y="1361302"/>
                  </a:cubicBezTo>
                  <a:cubicBezTo>
                    <a:pt x="2811254" y="1366716"/>
                    <a:pt x="2803911" y="1369758"/>
                    <a:pt x="2796254" y="1369758"/>
                  </a:cubicBezTo>
                  <a:lnTo>
                    <a:pt x="28870" y="1369758"/>
                  </a:lnTo>
                  <a:cubicBezTo>
                    <a:pt x="21213" y="1369758"/>
                    <a:pt x="13870" y="1366716"/>
                    <a:pt x="8456" y="1361302"/>
                  </a:cubicBezTo>
                  <a:cubicBezTo>
                    <a:pt x="3042" y="1355888"/>
                    <a:pt x="0" y="1348544"/>
                    <a:pt x="0" y="1340888"/>
                  </a:cubicBezTo>
                  <a:lnTo>
                    <a:pt x="0" y="28870"/>
                  </a:lnTo>
                  <a:cubicBezTo>
                    <a:pt x="0" y="21213"/>
                    <a:pt x="3042" y="13870"/>
                    <a:pt x="8456" y="8456"/>
                  </a:cubicBezTo>
                  <a:cubicBezTo>
                    <a:pt x="13870" y="3042"/>
                    <a:pt x="21213" y="0"/>
                    <a:pt x="28870" y="0"/>
                  </a:cubicBezTo>
                  <a:close/>
                </a:path>
              </a:pathLst>
            </a:custGeom>
            <a:solidFill>
              <a:srgbClr val="1C9BB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825124" cy="1417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69612" y="3593278"/>
            <a:ext cx="12616478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C# (.NET CORE6): Lógi</a:t>
            </a: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 del sistema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Python 3.12 : Lógica de aplicativo de escritorio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SQL Server: Base de datos relacional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APIs REST / JSON: Integración con tiendas y transportistas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Visual Studio / VS Code: Desarrollo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GitHub: Control de versiones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Postman: Pruebas de integración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Draw.io: Diagramas y diseño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Bizagi Modeler: Modelamiento de procesos (AS-IS / TO-BE)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2040" y="5391102"/>
            <a:ext cx="3562861" cy="2953246"/>
          </a:xfrm>
          <a:custGeom>
            <a:avLst/>
            <a:gdLst/>
            <a:ahLst/>
            <a:cxnLst/>
            <a:rect r="r" b="b" t="t" l="l"/>
            <a:pathLst>
              <a:path h="2953246" w="3562861">
                <a:moveTo>
                  <a:pt x="0" y="0"/>
                </a:moveTo>
                <a:lnTo>
                  <a:pt x="3562861" y="0"/>
                </a:lnTo>
                <a:lnTo>
                  <a:pt x="3562861" y="2953246"/>
                </a:lnTo>
                <a:lnTo>
                  <a:pt x="0" y="2953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15948" y="5391102"/>
            <a:ext cx="3562861" cy="2953246"/>
          </a:xfrm>
          <a:custGeom>
            <a:avLst/>
            <a:gdLst/>
            <a:ahLst/>
            <a:cxnLst/>
            <a:rect r="r" b="b" t="t" l="l"/>
            <a:pathLst>
              <a:path h="2953246" w="3562861">
                <a:moveTo>
                  <a:pt x="0" y="0"/>
                </a:moveTo>
                <a:lnTo>
                  <a:pt x="3562861" y="0"/>
                </a:lnTo>
                <a:lnTo>
                  <a:pt x="3562861" y="2953246"/>
                </a:lnTo>
                <a:lnTo>
                  <a:pt x="0" y="2953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4691" y="33762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41407" y="6294226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3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3" y="4682582"/>
                </a:lnTo>
                <a:lnTo>
                  <a:pt x="49718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1983048"/>
            <a:ext cx="8345835" cy="7275252"/>
            <a:chOff x="0" y="0"/>
            <a:chExt cx="1292988" cy="11271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2988" cy="1127127"/>
            </a:xfrm>
            <a:custGeom>
              <a:avLst/>
              <a:gdLst/>
              <a:ahLst/>
              <a:cxnLst/>
              <a:rect r="r" b="b" t="t" l="l"/>
              <a:pathLst>
                <a:path h="1127127" w="1292988">
                  <a:moveTo>
                    <a:pt x="37106" y="0"/>
                  </a:moveTo>
                  <a:lnTo>
                    <a:pt x="1255883" y="0"/>
                  </a:lnTo>
                  <a:cubicBezTo>
                    <a:pt x="1276375" y="0"/>
                    <a:pt x="1292988" y="16613"/>
                    <a:pt x="1292988" y="37106"/>
                  </a:cubicBezTo>
                  <a:lnTo>
                    <a:pt x="1292988" y="1090021"/>
                  </a:lnTo>
                  <a:cubicBezTo>
                    <a:pt x="1292988" y="1110514"/>
                    <a:pt x="1276375" y="1127127"/>
                    <a:pt x="1255883" y="1127127"/>
                  </a:cubicBezTo>
                  <a:lnTo>
                    <a:pt x="37106" y="1127127"/>
                  </a:lnTo>
                  <a:cubicBezTo>
                    <a:pt x="16613" y="1127127"/>
                    <a:pt x="0" y="1110514"/>
                    <a:pt x="0" y="1090021"/>
                  </a:cubicBezTo>
                  <a:lnTo>
                    <a:pt x="0" y="37106"/>
                  </a:lnTo>
                  <a:cubicBezTo>
                    <a:pt x="0" y="16613"/>
                    <a:pt x="16613" y="0"/>
                    <a:pt x="37106" y="0"/>
                  </a:cubicBezTo>
                  <a:close/>
                </a:path>
              </a:pathLst>
            </a:custGeom>
            <a:blipFill>
              <a:blip r:embed="rId4"/>
              <a:stretch>
                <a:fillRect l="-59522" t="-20385" r="-2704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980054" y="4306913"/>
            <a:ext cx="6074637" cy="2627521"/>
          </a:xfrm>
          <a:custGeom>
            <a:avLst/>
            <a:gdLst/>
            <a:ahLst/>
            <a:cxnLst/>
            <a:rect r="r" b="b" t="t" l="l"/>
            <a:pathLst>
              <a:path h="2627521" w="6074637">
                <a:moveTo>
                  <a:pt x="0" y="0"/>
                </a:moveTo>
                <a:lnTo>
                  <a:pt x="6074637" y="0"/>
                </a:lnTo>
                <a:lnTo>
                  <a:pt x="6074637" y="2627522"/>
                </a:lnTo>
                <a:lnTo>
                  <a:pt x="0" y="2627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5377" y="2973648"/>
            <a:ext cx="6560131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Planificac</a:t>
            </a: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4691" y="33762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485927" y="5775675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258637" y="5368109"/>
            <a:ext cx="7638727" cy="4443628"/>
          </a:xfrm>
          <a:custGeom>
            <a:avLst/>
            <a:gdLst/>
            <a:ahLst/>
            <a:cxnLst/>
            <a:rect r="r" b="b" t="t" l="l"/>
            <a:pathLst>
              <a:path h="4443628" w="7638727">
                <a:moveTo>
                  <a:pt x="0" y="0"/>
                </a:moveTo>
                <a:lnTo>
                  <a:pt x="7638727" y="0"/>
                </a:lnTo>
                <a:lnTo>
                  <a:pt x="7638727" y="4443627"/>
                </a:lnTo>
                <a:lnTo>
                  <a:pt x="0" y="444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811" r="0" b="-184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09385" y="5368109"/>
            <a:ext cx="8062533" cy="4443628"/>
          </a:xfrm>
          <a:custGeom>
            <a:avLst/>
            <a:gdLst/>
            <a:ahLst/>
            <a:cxnLst/>
            <a:rect r="r" b="b" t="t" l="l"/>
            <a:pathLst>
              <a:path h="4443628" w="8062533">
                <a:moveTo>
                  <a:pt x="0" y="0"/>
                </a:moveTo>
                <a:lnTo>
                  <a:pt x="8062533" y="0"/>
                </a:lnTo>
                <a:lnTo>
                  <a:pt x="8062533" y="4443627"/>
                </a:lnTo>
                <a:lnTo>
                  <a:pt x="0" y="444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41" t="0" r="-274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1813" y="1307189"/>
            <a:ext cx="12144373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Plan de Pruebas 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00728" y="2518673"/>
            <a:ext cx="1194196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 nuestro Plan de Pruebas realizaremos pruebas realizadas para el sistema TEP, incluyendo pruebas automatizadas mediante Selenium y pruebas de integración mediante Postman (Webhooks).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27763" y="3846458"/>
            <a:ext cx="4563244" cy="137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</a:pPr>
            <a:r>
              <a:rPr lang="en-US" sz="2265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POSTMAN</a:t>
            </a:r>
          </a:p>
          <a:p>
            <a:pPr algn="l" marL="358681" indent="-179341" lvl="1">
              <a:lnSpc>
                <a:spcPts val="2325"/>
              </a:lnSpc>
              <a:buAutoNum type="arabicPeriod" startAt="1"/>
            </a:pPr>
            <a:r>
              <a:rPr lang="en-US" b="true" sz="166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Recepción de Venta vía Webhook</a:t>
            </a:r>
          </a:p>
          <a:p>
            <a:pPr algn="ctr">
              <a:lnSpc>
                <a:spcPts val="3171"/>
              </a:lnSpc>
            </a:pPr>
          </a:p>
          <a:p>
            <a:pPr algn="ctr">
              <a:lnSpc>
                <a:spcPts val="23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4691" y="33762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485927" y="5604418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63782" y="4828052"/>
            <a:ext cx="7980218" cy="4299342"/>
          </a:xfrm>
          <a:custGeom>
            <a:avLst/>
            <a:gdLst/>
            <a:ahLst/>
            <a:cxnLst/>
            <a:rect r="r" b="b" t="t" l="l"/>
            <a:pathLst>
              <a:path h="4299342" w="7980218">
                <a:moveTo>
                  <a:pt x="0" y="0"/>
                </a:moveTo>
                <a:lnTo>
                  <a:pt x="7980218" y="0"/>
                </a:lnTo>
                <a:lnTo>
                  <a:pt x="7980218" y="4299342"/>
                </a:lnTo>
                <a:lnTo>
                  <a:pt x="0" y="42993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03902" y="4828052"/>
            <a:ext cx="8207366" cy="4308867"/>
          </a:xfrm>
          <a:custGeom>
            <a:avLst/>
            <a:gdLst/>
            <a:ahLst/>
            <a:cxnLst/>
            <a:rect r="r" b="b" t="t" l="l"/>
            <a:pathLst>
              <a:path h="4308867" w="8207366">
                <a:moveTo>
                  <a:pt x="0" y="0"/>
                </a:moveTo>
                <a:lnTo>
                  <a:pt x="8207366" y="0"/>
                </a:lnTo>
                <a:lnTo>
                  <a:pt x="8207366" y="4308867"/>
                </a:lnTo>
                <a:lnTo>
                  <a:pt x="0" y="4308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1813" y="1307189"/>
            <a:ext cx="12144373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Plan de Pruebas 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88689" y="2363829"/>
            <a:ext cx="7500537" cy="308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</a:pPr>
            <a:r>
              <a:rPr lang="en-US" sz="273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POSTMAN</a:t>
            </a:r>
          </a:p>
          <a:p>
            <a:pPr algn="l" marL="433737" indent="-216869" lvl="1">
              <a:lnSpc>
                <a:spcPts val="2812"/>
              </a:lnSpc>
              <a:buAutoNum type="arabicPeriod" startAt="1"/>
            </a:pPr>
            <a:r>
              <a:rPr lang="en-US" b="true" sz="2008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Registro de Estado de Envío</a:t>
            </a:r>
          </a:p>
          <a:p>
            <a:pPr algn="l">
              <a:lnSpc>
                <a:spcPts val="2812"/>
              </a:lnSpc>
            </a:pPr>
          </a:p>
          <a:p>
            <a:pPr algn="l">
              <a:lnSpc>
                <a:spcPts val="2812"/>
              </a:lnSpc>
            </a:pPr>
            <a:r>
              <a:rPr lang="en-US" sz="2008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Dentro de las pruebas también se encuentran:</a:t>
            </a:r>
          </a:p>
          <a:p>
            <a:pPr algn="l" marL="433959" indent="-216980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Recibida por Transporte</a:t>
            </a:r>
          </a:p>
          <a:p>
            <a:pPr algn="l" marL="433959" indent="-216980" lvl="1">
              <a:lnSpc>
                <a:spcPts val="2814"/>
              </a:lnSpc>
              <a:buFont typeface="Arial"/>
              <a:buChar char="•"/>
            </a:pPr>
            <a:r>
              <a:rPr lang="en-US" b="true" sz="201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Entregado a Destinatario</a:t>
            </a:r>
          </a:p>
          <a:p>
            <a:pPr algn="ctr">
              <a:lnSpc>
                <a:spcPts val="3835"/>
              </a:lnSpc>
            </a:pPr>
          </a:p>
          <a:p>
            <a:pPr algn="ctr">
              <a:lnSpc>
                <a:spcPts val="2812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76560" y="-895185"/>
            <a:ext cx="4707744" cy="4433839"/>
          </a:xfrm>
          <a:custGeom>
            <a:avLst/>
            <a:gdLst/>
            <a:ahLst/>
            <a:cxnLst/>
            <a:rect r="r" b="b" t="t" l="l"/>
            <a:pathLst>
              <a:path h="4433839" w="4707744">
                <a:moveTo>
                  <a:pt x="0" y="0"/>
                </a:moveTo>
                <a:lnTo>
                  <a:pt x="4707744" y="0"/>
                </a:lnTo>
                <a:lnTo>
                  <a:pt x="4707744" y="4433839"/>
                </a:lnTo>
                <a:lnTo>
                  <a:pt x="0" y="4433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92882" y="-785152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619972" y="5823875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1237791" y="4594061"/>
            <a:ext cx="4655091" cy="4804005"/>
          </a:xfrm>
          <a:custGeom>
            <a:avLst/>
            <a:gdLst/>
            <a:ahLst/>
            <a:cxnLst/>
            <a:rect r="r" b="b" t="t" l="l"/>
            <a:pathLst>
              <a:path h="4804005" w="4655091">
                <a:moveTo>
                  <a:pt x="0" y="0"/>
                </a:moveTo>
                <a:lnTo>
                  <a:pt x="4655091" y="0"/>
                </a:lnTo>
                <a:lnTo>
                  <a:pt x="4655091" y="4804005"/>
                </a:lnTo>
                <a:lnTo>
                  <a:pt x="0" y="4804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15" t="-8047" r="0" b="-1109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4566400"/>
            <a:ext cx="8968290" cy="4831666"/>
          </a:xfrm>
          <a:custGeom>
            <a:avLst/>
            <a:gdLst/>
            <a:ahLst/>
            <a:cxnLst/>
            <a:rect r="r" b="b" t="t" l="l"/>
            <a:pathLst>
              <a:path h="4831666" w="8968290">
                <a:moveTo>
                  <a:pt x="0" y="0"/>
                </a:moveTo>
                <a:lnTo>
                  <a:pt x="8968290" y="0"/>
                </a:lnTo>
                <a:lnTo>
                  <a:pt x="8968290" y="4831666"/>
                </a:lnTo>
                <a:lnTo>
                  <a:pt x="0" y="48316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71813" y="1140290"/>
            <a:ext cx="12144373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Plan de Pruebas Desarrollo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94240" y="3523633"/>
            <a:ext cx="6260437" cy="200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</a:pPr>
            <a:r>
              <a:rPr lang="en-US" sz="222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SELENIUM(UI Automatizada)</a:t>
            </a:r>
          </a:p>
          <a:p>
            <a:pPr algn="l" marL="455548" indent="-227774" lvl="1">
              <a:lnSpc>
                <a:spcPts val="2953"/>
              </a:lnSpc>
              <a:buAutoNum type="arabicPeriod" startAt="1"/>
            </a:pPr>
            <a:r>
              <a:rPr lang="en-US" b="true" sz="210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Log</a:t>
            </a:r>
            <a:r>
              <a:rPr lang="en-US" b="true" sz="210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 Correcto</a:t>
            </a:r>
          </a:p>
          <a:p>
            <a:pPr algn="l">
              <a:lnSpc>
                <a:spcPts val="2289"/>
              </a:lnSpc>
            </a:pPr>
          </a:p>
          <a:p>
            <a:pPr algn="l">
              <a:lnSpc>
                <a:spcPts val="2289"/>
              </a:lnSpc>
            </a:pPr>
          </a:p>
          <a:p>
            <a:pPr algn="ctr">
              <a:lnSpc>
                <a:spcPts val="3121"/>
              </a:lnSpc>
            </a:pPr>
          </a:p>
          <a:p>
            <a:pPr algn="ctr">
              <a:lnSpc>
                <a:spcPts val="228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852455" y="2233044"/>
            <a:ext cx="1194196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 nuestro Plan de Pruebas realizaremos pruebas realizadas para el sistema TEP, incluyendo pruebas automatizadas mediante Selenium y pruebas de integración mediante Postman (Webhooks).  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06737" y="-115352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3" y="0"/>
                </a:lnTo>
                <a:lnTo>
                  <a:pt x="4971853" y="4682581"/>
                </a:lnTo>
                <a:lnTo>
                  <a:pt x="0" y="4682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155833">
            <a:off x="-3563184" y="8413585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true" flipV="false" rot="8278381">
            <a:off x="15954337" y="6917009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4" y="4682582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3678" y="4802289"/>
            <a:ext cx="8880368" cy="4651093"/>
          </a:xfrm>
          <a:custGeom>
            <a:avLst/>
            <a:gdLst/>
            <a:ahLst/>
            <a:cxnLst/>
            <a:rect r="r" b="b" t="t" l="l"/>
            <a:pathLst>
              <a:path h="4651093" w="8880368">
                <a:moveTo>
                  <a:pt x="0" y="0"/>
                </a:moveTo>
                <a:lnTo>
                  <a:pt x="8880368" y="0"/>
                </a:lnTo>
                <a:lnTo>
                  <a:pt x="8880368" y="4651092"/>
                </a:lnTo>
                <a:lnTo>
                  <a:pt x="0" y="4651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77274" y="4732752"/>
            <a:ext cx="4450757" cy="4720629"/>
          </a:xfrm>
          <a:custGeom>
            <a:avLst/>
            <a:gdLst/>
            <a:ahLst/>
            <a:cxnLst/>
            <a:rect r="r" b="b" t="t" l="l"/>
            <a:pathLst>
              <a:path h="4720629" w="4450757">
                <a:moveTo>
                  <a:pt x="0" y="0"/>
                </a:moveTo>
                <a:lnTo>
                  <a:pt x="4450758" y="0"/>
                </a:lnTo>
                <a:lnTo>
                  <a:pt x="4450758" y="4720629"/>
                </a:lnTo>
                <a:lnTo>
                  <a:pt x="0" y="4720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162" r="0" b="-216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71813" y="1044893"/>
            <a:ext cx="12144373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Plan de Pruebas Desarrollo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76365" y="2101533"/>
            <a:ext cx="7167336" cy="361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2"/>
              </a:lnSpc>
            </a:pPr>
            <a:r>
              <a:rPr lang="en-US" sz="235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SELENIUM(UI Automatizada)</a:t>
            </a:r>
          </a:p>
          <a:p>
            <a:pPr algn="l">
              <a:lnSpc>
                <a:spcPts val="2422"/>
              </a:lnSpc>
            </a:pPr>
          </a:p>
          <a:p>
            <a:pPr algn="l" marL="455548" indent="-227774" lvl="1">
              <a:lnSpc>
                <a:spcPts val="2953"/>
              </a:lnSpc>
              <a:buAutoNum type="arabicPeriod" startAt="1"/>
            </a:pPr>
            <a:r>
              <a:rPr lang="en-US" b="true" sz="210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Login Incorrecto</a:t>
            </a:r>
          </a:p>
          <a:p>
            <a:pPr algn="l">
              <a:lnSpc>
                <a:spcPts val="2953"/>
              </a:lnSpc>
            </a:pPr>
          </a:p>
          <a:p>
            <a:pPr algn="l">
              <a:lnSpc>
                <a:spcPts val="2953"/>
              </a:lnSpc>
            </a:pPr>
            <a:r>
              <a:rPr lang="en-US" sz="2109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Dentro las pruebas realizadas tambien se encuentran</a:t>
            </a:r>
          </a:p>
          <a:p>
            <a:pPr algn="l" marL="455548" indent="-227774" lvl="1">
              <a:lnSpc>
                <a:spcPts val="2953"/>
              </a:lnSpc>
              <a:buFont typeface="Arial"/>
              <a:buChar char="•"/>
            </a:pPr>
            <a:r>
              <a:rPr lang="en-US" b="true" sz="210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Login con Campos Vacíos</a:t>
            </a:r>
          </a:p>
          <a:p>
            <a:pPr algn="l" marL="455548" indent="-227774" lvl="1">
              <a:lnSpc>
                <a:spcPts val="2953"/>
              </a:lnSpc>
              <a:buFont typeface="Arial"/>
              <a:buChar char="•"/>
            </a:pPr>
            <a:r>
              <a:rPr lang="en-US" b="true" sz="210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Logout Correcto</a:t>
            </a:r>
          </a:p>
          <a:p>
            <a:pPr algn="l">
              <a:lnSpc>
                <a:spcPts val="2422"/>
              </a:lnSpc>
            </a:pPr>
          </a:p>
          <a:p>
            <a:pPr algn="ctr">
              <a:lnSpc>
                <a:spcPts val="3302"/>
              </a:lnSpc>
            </a:pPr>
          </a:p>
          <a:p>
            <a:pPr algn="ctr">
              <a:lnSpc>
                <a:spcPts val="24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4691" y="337623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41407" y="6294226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3" y="0"/>
                </a:moveTo>
                <a:lnTo>
                  <a:pt x="0" y="0"/>
                </a:lnTo>
                <a:lnTo>
                  <a:pt x="0" y="4682582"/>
                </a:lnTo>
                <a:lnTo>
                  <a:pt x="4971853" y="4682582"/>
                </a:lnTo>
                <a:lnTo>
                  <a:pt x="49718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2351882" y="1358900"/>
            <a:ext cx="14630400" cy="82296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51882" y="332422"/>
            <a:ext cx="14907418" cy="34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  <a:spcBef>
                <a:spcPct val="0"/>
              </a:spcBef>
            </a:pPr>
            <a:r>
              <a:rPr lang="en-US" b="true" sz="1949" u="sng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Link 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6362" y="6593840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0" y="0"/>
                </a:moveTo>
                <a:lnTo>
                  <a:pt x="4971854" y="0"/>
                </a:lnTo>
                <a:lnTo>
                  <a:pt x="4971854" y="4682582"/>
                </a:lnTo>
                <a:lnTo>
                  <a:pt x="0" y="468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90139" y="-1471658"/>
            <a:ext cx="4971853" cy="4682582"/>
          </a:xfrm>
          <a:custGeom>
            <a:avLst/>
            <a:gdLst/>
            <a:ahLst/>
            <a:cxnLst/>
            <a:rect r="r" b="b" t="t" l="l"/>
            <a:pathLst>
              <a:path h="4682582" w="4971853">
                <a:moveTo>
                  <a:pt x="4971854" y="0"/>
                </a:moveTo>
                <a:lnTo>
                  <a:pt x="0" y="0"/>
                </a:lnTo>
                <a:lnTo>
                  <a:pt x="0" y="4682581"/>
                </a:lnTo>
                <a:lnTo>
                  <a:pt x="4971854" y="4682581"/>
                </a:lnTo>
                <a:lnTo>
                  <a:pt x="497185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704901" y="1028700"/>
            <a:ext cx="12148587" cy="0"/>
          </a:xfrm>
          <a:prstGeom prst="line">
            <a:avLst/>
          </a:prstGeom>
          <a:ln cap="flat" w="38100">
            <a:solidFill>
              <a:srgbClr val="1C9B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892882" y="822007"/>
            <a:ext cx="136641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31035"/>
            <a:ext cx="7771427" cy="466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</a:pPr>
            <a:r>
              <a:rPr lang="en-US" sz="8799" b="true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Reflexión Final</a:t>
            </a:r>
          </a:p>
          <a:p>
            <a:pPr algn="l">
              <a:lnSpc>
                <a:spcPts val="123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498972" y="2915639"/>
            <a:ext cx="10491026" cy="634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0"/>
              </a:lnSpc>
              <a:spcBef>
                <a:spcPct val="0"/>
              </a:spcBef>
            </a:pPr>
            <a:r>
              <a:rPr lang="en-US" sz="30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Lecciones Aprendidas y Obstáculos presentados c</a:t>
            </a:r>
            <a:r>
              <a:rPr lang="en-US" sz="30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 la Experiencia.</a:t>
            </a:r>
          </a:p>
          <a:p>
            <a:pPr algn="l" marL="655547" indent="-327773" lvl="1">
              <a:lnSpc>
                <a:spcPts val="4250"/>
              </a:lnSpc>
              <a:spcBef>
                <a:spcPct val="0"/>
              </a:spcBef>
              <a:buAutoNum type="arabicPeriod" startAt="1"/>
            </a:pPr>
            <a:r>
              <a:rPr lang="en-US" sz="30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¿Cuáles fueron los principales obstáculos que se vivieron como equipo?</a:t>
            </a:r>
          </a:p>
          <a:p>
            <a:pPr algn="l" marL="655547" indent="-327773" lvl="1">
              <a:lnSpc>
                <a:spcPts val="4250"/>
              </a:lnSpc>
              <a:spcBef>
                <a:spcPct val="0"/>
              </a:spcBef>
              <a:buAutoNum type="arabicPeriod" startAt="1"/>
            </a:pPr>
            <a:r>
              <a:rPr lang="en-US" sz="30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¿Cómo los evitaría para un próximo proyecto?</a:t>
            </a:r>
          </a:p>
          <a:p>
            <a:pPr algn="l" marL="655547" indent="-327773" lvl="1">
              <a:lnSpc>
                <a:spcPts val="4250"/>
              </a:lnSpc>
              <a:spcBef>
                <a:spcPct val="0"/>
              </a:spcBef>
              <a:buAutoNum type="arabicPeriod" startAt="1"/>
            </a:pPr>
            <a:r>
              <a:rPr lang="en-US" sz="30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¿Cuáles fueron los casos más complejos en desarrollar?</a:t>
            </a:r>
          </a:p>
          <a:p>
            <a:pPr algn="l" marL="655547" indent="-327773" lvl="1">
              <a:lnSpc>
                <a:spcPts val="4250"/>
              </a:lnSpc>
              <a:spcBef>
                <a:spcPct val="0"/>
              </a:spcBef>
              <a:buAutoNum type="arabicPeriod" startAt="1"/>
            </a:pPr>
            <a:r>
              <a:rPr lang="en-US" sz="30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¿Perciben un crecimiento en su capacidad para desarrollar proyectos informáticos reales?</a:t>
            </a:r>
          </a:p>
          <a:p>
            <a:pPr algn="l" marL="655547" indent="-327773" lvl="1">
              <a:lnSpc>
                <a:spcPts val="4250"/>
              </a:lnSpc>
              <a:spcBef>
                <a:spcPct val="0"/>
              </a:spcBef>
              <a:buAutoNum type="arabicPeriod" startAt="1"/>
            </a:pPr>
            <a:r>
              <a:rPr lang="en-US" sz="30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¿Cuáles fueron los principales auto-aprendizajes que han logrado en el proceso?</a:t>
            </a:r>
          </a:p>
          <a:p>
            <a:pPr algn="l">
              <a:lnSpc>
                <a:spcPts val="425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351882" y="822007"/>
            <a:ext cx="26368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TEP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405989" y="1910818"/>
            <a:ext cx="11476022" cy="64653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DAG6R6WQL2Q</dc:identifier>
  <dcterms:modified xsi:type="dcterms:W3CDTF">2011-08-01T06:04:30Z</dcterms:modified>
  <cp:revision>1</cp:revision>
  <dc:title>Presentación TEP</dc:title>
</cp:coreProperties>
</file>